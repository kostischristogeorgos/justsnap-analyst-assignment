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14" r:id="rId5"/>
    <p:sldId id="329" r:id="rId6"/>
    <p:sldId id="339" r:id="rId7"/>
    <p:sldId id="322" r:id="rId8"/>
    <p:sldId id="343" r:id="rId9"/>
    <p:sldId id="344" r:id="rId10"/>
    <p:sldId id="345" r:id="rId11"/>
    <p:sldId id="325" r:id="rId12"/>
    <p:sldId id="33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userDrawn="1">
          <p15:clr>
            <a:srgbClr val="A4A3A4"/>
          </p15:clr>
        </p15:guide>
        <p15:guide id="2" orient="horz" pos="10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DFE"/>
    <a:srgbClr val="D4DDFE"/>
    <a:srgbClr val="D5DEFF"/>
    <a:srgbClr val="F6F7FF"/>
    <a:srgbClr val="DBDCE5"/>
    <a:srgbClr val="F0F1FB"/>
    <a:srgbClr val="DFE1F6"/>
    <a:srgbClr val="EEEFF5"/>
    <a:srgbClr val="DFE1EF"/>
    <a:srgbClr val="A9B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394" autoAdjust="0"/>
  </p:normalViewPr>
  <p:slideViewPr>
    <p:cSldViewPr snapToGrid="0">
      <p:cViewPr varScale="1">
        <p:scale>
          <a:sx n="119" d="100"/>
          <a:sy n="119" d="100"/>
        </p:scale>
        <p:origin x="156" y="108"/>
      </p:cViewPr>
      <p:guideLst>
        <p:guide orient="horz" pos="1416"/>
        <p:guide orient="horz" pos="1008"/>
        <p:guide pos="3840"/>
      </p:guideLst>
    </p:cSldViewPr>
  </p:slideViewPr>
  <p:outlineViewPr>
    <p:cViewPr>
      <p:scale>
        <a:sx n="33" d="100"/>
        <a:sy n="33" d="100"/>
      </p:scale>
      <p:origin x="0" y="-10368"/>
    </p:cViewPr>
  </p:outlineViewPr>
  <p:notesTextViewPr>
    <p:cViewPr>
      <p:scale>
        <a:sx n="1" d="1"/>
        <a:sy n="1" d="1"/>
      </p:scale>
      <p:origin x="0" y="0"/>
    </p:cViewPr>
  </p:notesTextViewPr>
  <p:sorterViewPr>
    <p:cViewPr varScale="1">
      <p:scale>
        <a:sx n="100" d="100"/>
        <a:sy n="100" d="100"/>
      </p:scale>
      <p:origin x="0" y="0"/>
    </p:cViewPr>
  </p:sorterViewPr>
  <p:notesViewPr>
    <p:cSldViewPr snapToGrid="0" showGuides="1">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32BE22-BCF5-218A-BCDB-9D6463B9A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6C6B9B-3CD0-9D38-9EB7-8FC9403B85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A62055-8DBD-6042-92AC-66DE479F90DE}" type="datetimeFigureOut">
              <a:rPr lang="en-US" smtClean="0"/>
              <a:t>11/25/2025</a:t>
            </a:fld>
            <a:endParaRPr lang="en-US" dirty="0"/>
          </a:p>
        </p:txBody>
      </p:sp>
      <p:sp>
        <p:nvSpPr>
          <p:cNvPr id="4" name="Footer Placeholder 3">
            <a:extLst>
              <a:ext uri="{FF2B5EF4-FFF2-40B4-BE49-F238E27FC236}">
                <a16:creationId xmlns:a16="http://schemas.microsoft.com/office/drawing/2014/main" id="{7745B14E-D4D7-1E40-CD23-AE797C2368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713512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EE50A-AB77-49BE-9076-23C4C8D08BB2}" type="datetimeFigureOut">
              <a:rPr lang="en-US" smtClean="0"/>
              <a:t>11/25/2025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09883-B744-4FDD-8623-D69A66650022}" type="slidenum">
              <a:rPr lang="en-US" smtClean="0"/>
              <a:t>‹#›</a:t>
            </a:fld>
            <a:endParaRPr lang="en-US" dirty="0"/>
          </a:p>
        </p:txBody>
      </p:sp>
    </p:spTree>
    <p:extLst>
      <p:ext uri="{BB962C8B-B14F-4D97-AF65-F5344CB8AC3E}">
        <p14:creationId xmlns:p14="http://schemas.microsoft.com/office/powerpoint/2010/main" val="142764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26520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3748998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170382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AE311-EDE3-7868-0C42-3E55B2524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BC7A4-9D03-F357-8A66-F2B474B0C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56E65-4D87-2D7F-6645-CBD6FFEE05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BE3A1-BF61-1221-502D-4AF39B532D75}"/>
              </a:ext>
            </a:extLst>
          </p:cNvPr>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682452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F2547-8D4E-88C0-F8C9-B8425EB81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02705-29C2-DFE5-D48B-9CE209556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22DA9-4513-29CD-478C-6C40E5A2AB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1A6CD-B34A-5196-7386-B0F61F9BFCA8}"/>
              </a:ext>
            </a:extLst>
          </p:cNvPr>
          <p:cNvSpPr>
            <a:spLocks noGrp="1"/>
          </p:cNvSpPr>
          <p:nvPr>
            <p:ph type="sldNum" sz="quarter" idx="5"/>
          </p:nvPr>
        </p:nvSpPr>
        <p:spPr/>
        <p:txBody>
          <a:bodyPr/>
          <a:lstStyle/>
          <a:p>
            <a:fld id="{96E09883-B744-4FDD-8623-D69A66650022}" type="slidenum">
              <a:rPr lang="en-US" smtClean="0"/>
              <a:t>6</a:t>
            </a:fld>
            <a:endParaRPr lang="en-US" dirty="0"/>
          </a:p>
        </p:txBody>
      </p:sp>
    </p:spTree>
    <p:extLst>
      <p:ext uri="{BB962C8B-B14F-4D97-AF65-F5344CB8AC3E}">
        <p14:creationId xmlns:p14="http://schemas.microsoft.com/office/powerpoint/2010/main" val="2679580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459FC-3A5E-B0B5-ED25-7A922A550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38063-3200-607C-3317-C044BE354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F95DB-1F9A-580C-BF5D-6C3DFE5F2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CB928C-A89A-B186-2489-24C332D37485}"/>
              </a:ext>
            </a:extLst>
          </p:cNvPr>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1594749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8</a:t>
            </a:fld>
            <a:endParaRPr lang="en-US" dirty="0"/>
          </a:p>
        </p:txBody>
      </p:sp>
    </p:spTree>
    <p:extLst>
      <p:ext uri="{BB962C8B-B14F-4D97-AF65-F5344CB8AC3E}">
        <p14:creationId xmlns:p14="http://schemas.microsoft.com/office/powerpoint/2010/main" val="3486908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9</a:t>
            </a:fld>
            <a:endParaRPr lang="en-US" dirty="0"/>
          </a:p>
        </p:txBody>
      </p:sp>
    </p:spTree>
    <p:extLst>
      <p:ext uri="{BB962C8B-B14F-4D97-AF65-F5344CB8AC3E}">
        <p14:creationId xmlns:p14="http://schemas.microsoft.com/office/powerpoint/2010/main" val="2570765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8961120"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
        <p:nvSpPr>
          <p:cNvPr id="6" name="Freeform 5">
            <a:extLst>
              <a:ext uri="{FF2B5EF4-FFF2-40B4-BE49-F238E27FC236}">
                <a16:creationId xmlns:a16="http://schemas.microsoft.com/office/drawing/2014/main" id="{CA65DB93-2357-6899-3DDD-DC79C877ADA2}"/>
              </a:ext>
              <a:ext uri="{C183D7F6-B498-43B3-948B-1728B52AA6E4}">
                <adec:decorative xmlns:adec="http://schemas.microsoft.com/office/drawing/2017/decorative" val="1"/>
              </a:ext>
            </a:extLst>
          </p:cNvPr>
          <p:cNvSpPr/>
          <p:nvPr userDrawn="1"/>
        </p:nvSpPr>
        <p:spPr>
          <a:xfrm>
            <a:off x="9729533" y="5801722"/>
            <a:ext cx="2115210" cy="1056278"/>
          </a:xfrm>
          <a:custGeom>
            <a:avLst/>
            <a:gdLst>
              <a:gd name="connsiteX0" fmla="*/ 1057605 w 2115210"/>
              <a:gd name="connsiteY0" fmla="*/ 0 h 1056278"/>
              <a:gd name="connsiteX1" fmla="*/ 2109820 w 2115210"/>
              <a:gd name="connsiteY1" fmla="*/ 949535 h 1056278"/>
              <a:gd name="connsiteX2" fmla="*/ 2115210 w 2115210"/>
              <a:gd name="connsiteY2" fmla="*/ 1056278 h 1056278"/>
              <a:gd name="connsiteX3" fmla="*/ 0 w 2115210"/>
              <a:gd name="connsiteY3" fmla="*/ 1056278 h 1056278"/>
              <a:gd name="connsiteX4" fmla="*/ 5390 w 2115210"/>
              <a:gd name="connsiteY4" fmla="*/ 949535 h 1056278"/>
              <a:gd name="connsiteX5" fmla="*/ 1057605 w 2115210"/>
              <a:gd name="connsiteY5" fmla="*/ 0 h 105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5210" h="1056278">
                <a:moveTo>
                  <a:pt x="1057605" y="0"/>
                </a:moveTo>
                <a:cubicBezTo>
                  <a:pt x="1605234" y="0"/>
                  <a:pt x="2055657" y="416196"/>
                  <a:pt x="2109820" y="949535"/>
                </a:cubicBezTo>
                <a:lnTo>
                  <a:pt x="2115210" y="1056278"/>
                </a:lnTo>
                <a:lnTo>
                  <a:pt x="0" y="1056278"/>
                </a:lnTo>
                <a:lnTo>
                  <a:pt x="5390" y="949535"/>
                </a:lnTo>
                <a:cubicBezTo>
                  <a:pt x="59553" y="416196"/>
                  <a:pt x="509976" y="0"/>
                  <a:pt x="105760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Object 1">
            <a:extLst>
              <a:ext uri="{FF2B5EF4-FFF2-40B4-BE49-F238E27FC236}">
                <a16:creationId xmlns:a16="http://schemas.microsoft.com/office/drawing/2014/main" id="{056E6431-5C32-6197-AA1B-3763794313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99852" y="0"/>
            <a:ext cx="1574573" cy="3954463"/>
          </a:xfrm>
          <a:prstGeom prst="rect">
            <a:avLst/>
          </a:prstGeom>
        </p:spPr>
      </p:pic>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9D4FED77-2877-7D28-E27C-7BE9F5E7393A}"/>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4" name="Slide Number Placeholder 5">
            <a:extLst>
              <a:ext uri="{FF2B5EF4-FFF2-40B4-BE49-F238E27FC236}">
                <a16:creationId xmlns:a16="http://schemas.microsoft.com/office/drawing/2014/main" id="{90785AC1-54EA-61EE-115B-C1910CC60A62}"/>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642" b="69630"/>
          <a:stretch>
            <a:fillRect/>
          </a:stretch>
        </p:blipFill>
        <p:spPr>
          <a:xfrm>
            <a:off x="1" y="4775200"/>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userDrawn="1"/>
        </p:nvSpPr>
        <p:spPr>
          <a:xfrm>
            <a:off x="9249382" y="1747860"/>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userDrawn="1"/>
        </p:nvSpPr>
        <p:spPr>
          <a:xfrm>
            <a:off x="8793014" y="361075"/>
            <a:ext cx="2115351" cy="21153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401915" y="304690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7316365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385898" y="0"/>
            <a:ext cx="1574573" cy="3954463"/>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userDrawn="1"/>
        </p:nvSpPr>
        <p:spPr>
          <a:xfrm>
            <a:off x="9115508" y="4240999"/>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5894702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userDrawn="1"/>
        </p:nvGrpSpPr>
        <p:grpSpPr>
          <a:xfrm rot="10800000">
            <a:off x="741680" y="0"/>
            <a:ext cx="2133966" cy="2133966"/>
            <a:chOff x="9654699" y="2229295"/>
            <a:chExt cx="2133966" cy="2133966"/>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2884" r="34757"/>
          <a:stretch>
            <a:fillRect/>
          </a:stretch>
        </p:blipFill>
        <p:spPr>
          <a:xfrm flipH="1" flipV="1">
            <a:off x="0" y="3626779"/>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F1FE2A1C-A3CC-9D8B-DE44-FDE1132F7FC5}"/>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11" name="Slide Number Placeholder 5">
            <a:extLst>
              <a:ext uri="{FF2B5EF4-FFF2-40B4-BE49-F238E27FC236}">
                <a16:creationId xmlns:a16="http://schemas.microsoft.com/office/drawing/2014/main" id="{23C454DD-C924-8468-6944-AF53508CD86B}"/>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882561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091187" y="247518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
        <p:nvSpPr>
          <p:cNvPr id="6" name="Footer Placeholder 4">
            <a:extLst>
              <a:ext uri="{FF2B5EF4-FFF2-40B4-BE49-F238E27FC236}">
                <a16:creationId xmlns:a16="http://schemas.microsoft.com/office/drawing/2014/main" id="{BE148B4D-CB0B-8B95-BA58-B33DE05305B9}"/>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9" name="Slide Number Placeholder 5">
            <a:extLst>
              <a:ext uri="{FF2B5EF4-FFF2-40B4-BE49-F238E27FC236}">
                <a16:creationId xmlns:a16="http://schemas.microsoft.com/office/drawing/2014/main" id="{9B895145-43B3-C337-08C1-C009F83D87F4}"/>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52388379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userDrawn="1"/>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7688650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3"/>
        </a:solidFill>
        <a:effectLst/>
      </p:bgPr>
    </p:bg>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10800000">
            <a:off x="1084203" y="4586286"/>
            <a:ext cx="1574573" cy="2271713"/>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userDrawn="1"/>
        </p:nvSpPr>
        <p:spPr>
          <a:xfrm rot="10800000">
            <a:off x="813816" y="2184400"/>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3835400" y="2185127"/>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7221564" y="218440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62769895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78285"/>
          <a:stretch/>
        </p:blipFill>
        <p:spPr>
          <a:xfrm>
            <a:off x="0" y="5368807"/>
            <a:ext cx="3769950" cy="1489194"/>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userDrawn="1"/>
        </p:nvSpPr>
        <p:spPr>
          <a:xfrm>
            <a:off x="8282467" y="5439854"/>
            <a:ext cx="1096391" cy="109639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userDrawn="1"/>
        </p:nvSpPr>
        <p:spPr>
          <a:xfrm>
            <a:off x="9616629" y="3758740"/>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7709054" y="459137"/>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txBody>
          <a:bodyPr wrap="square" tIns="73152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718067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166183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userDrawn="1"/>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769453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369749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3"/>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userDrawn="1"/>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2884" r="34757"/>
          <a:stretch>
            <a:fillRect/>
          </a:stretch>
        </p:blipFill>
        <p:spPr>
          <a:xfrm>
            <a:off x="7717670" y="0"/>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298881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83" r:id="rId4"/>
    <p:sldLayoutId id="2147483684" r:id="rId5"/>
    <p:sldLayoutId id="2147483685" r:id="rId6"/>
    <p:sldLayoutId id="2147483671" r:id="rId7"/>
    <p:sldLayoutId id="2147483679" r:id="rId8"/>
    <p:sldLayoutId id="2147483676" r:id="rId9"/>
    <p:sldLayoutId id="2147483669" r:id="rId10"/>
    <p:sldLayoutId id="2147483673" r:id="rId11"/>
    <p:sldLayoutId id="2147483682" r:id="rId12"/>
    <p:sldLayoutId id="2147483656" r:id="rId13"/>
  </p:sldLayoutIdLst>
  <p:hf sldNum="0" hdr="0" ftr="0" dt="0"/>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ctrTitle"/>
          </p:nvPr>
        </p:nvSpPr>
        <p:spPr>
          <a:xfrm>
            <a:off x="811185" y="629469"/>
            <a:ext cx="8961120" cy="5599062"/>
          </a:xfrm>
        </p:spPr>
        <p:txBody>
          <a:bodyPr/>
          <a:lstStyle/>
          <a:p>
            <a:r>
              <a:rPr lang="en-US" dirty="0"/>
              <a:t>Data Analyst Assignment</a:t>
            </a:r>
            <a:br>
              <a:rPr lang="en-US" dirty="0"/>
            </a:br>
            <a:br>
              <a:rPr lang="en-US" dirty="0"/>
            </a:br>
            <a:r>
              <a:rPr lang="en-US" sz="3600" dirty="0"/>
              <a:t>Konstantinos Christogeorgos</a:t>
            </a:r>
            <a:br>
              <a:rPr lang="en-US" sz="3600" dirty="0"/>
            </a:br>
            <a:r>
              <a:rPr lang="en-US" sz="3600" dirty="0"/>
              <a:t>kostischristogeorgos@gmail.com</a:t>
            </a:r>
          </a:p>
        </p:txBody>
      </p:sp>
    </p:spTree>
    <p:extLst>
      <p:ext uri="{BB962C8B-B14F-4D97-AF65-F5344CB8AC3E}">
        <p14:creationId xmlns:p14="http://schemas.microsoft.com/office/powerpoint/2010/main" val="342140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811185" y="621973"/>
            <a:ext cx="6400800" cy="1828800"/>
          </a:xfrm>
        </p:spPr>
        <p:txBody>
          <a:bodyPr/>
          <a:lstStyle/>
          <a:p>
            <a:r>
              <a:rPr lang="en-US" dirty="0"/>
              <a:t>Agenda</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811185" y="2774786"/>
            <a:ext cx="6400800" cy="3257550"/>
          </a:xfrm>
        </p:spPr>
        <p:txBody>
          <a:bodyPr/>
          <a:lstStyle/>
          <a:p>
            <a:r>
              <a:rPr lang="en-US" dirty="0"/>
              <a:t>Executive Summary</a:t>
            </a:r>
          </a:p>
          <a:p>
            <a:r>
              <a:rPr lang="en-US" dirty="0"/>
              <a:t>Problem - Business Impact</a:t>
            </a:r>
          </a:p>
          <a:p>
            <a:r>
              <a:rPr lang="en-US" dirty="0"/>
              <a:t>Model Approach</a:t>
            </a:r>
          </a:p>
          <a:p>
            <a:r>
              <a:rPr lang="en-US" dirty="0"/>
              <a:t>Performance - Validation</a:t>
            </a:r>
          </a:p>
          <a:p>
            <a:r>
              <a:rPr lang="en-US" dirty="0"/>
              <a:t>Business Recommendations - ROI</a:t>
            </a:r>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8E5B-47A0-EF94-A53D-6FDB74C9D848}"/>
              </a:ext>
            </a:extLst>
          </p:cNvPr>
          <p:cNvSpPr>
            <a:spLocks noGrp="1"/>
          </p:cNvSpPr>
          <p:nvPr>
            <p:ph type="title"/>
          </p:nvPr>
        </p:nvSpPr>
        <p:spPr>
          <a:xfrm>
            <a:off x="4323347" y="537411"/>
            <a:ext cx="7030453" cy="1913361"/>
          </a:xfrm>
        </p:spPr>
        <p:txBody>
          <a:bodyPr/>
          <a:lstStyle/>
          <a:p>
            <a:r>
              <a:rPr lang="en-US" dirty="0"/>
              <a:t>Executive Summary</a:t>
            </a:r>
          </a:p>
        </p:txBody>
      </p:sp>
      <p:sp>
        <p:nvSpPr>
          <p:cNvPr id="3" name="Text Placeholder 2">
            <a:extLst>
              <a:ext uri="{FF2B5EF4-FFF2-40B4-BE49-F238E27FC236}">
                <a16:creationId xmlns:a16="http://schemas.microsoft.com/office/drawing/2014/main" id="{C6EA201F-56F9-BFD9-8E95-AD5BD7D54FD0}"/>
              </a:ext>
            </a:extLst>
          </p:cNvPr>
          <p:cNvSpPr>
            <a:spLocks noGrp="1"/>
          </p:cNvSpPr>
          <p:nvPr>
            <p:ph sz="quarter" idx="26"/>
          </p:nvPr>
        </p:nvSpPr>
        <p:spPr>
          <a:xfrm>
            <a:off x="4323347" y="1395664"/>
            <a:ext cx="7451557" cy="4114799"/>
          </a:xfrm>
        </p:spPr>
        <p:txBody>
          <a:bodyPr anchor="b"/>
          <a:lstStyle/>
          <a:p>
            <a:pPr marL="285750" indent="-285750">
              <a:buFont typeface="Arial" panose="020B0604020202020204" pitchFamily="34" charset="0"/>
              <a:buChar char="•"/>
            </a:pPr>
            <a:r>
              <a:rPr lang="en-US" sz="2000" dirty="0"/>
              <a:t>This project develops an AI-based product matching system that </a:t>
            </a:r>
            <a:r>
              <a:rPr lang="en-US" sz="2000" b="1" dirty="0"/>
              <a:t>automatically</a:t>
            </a:r>
            <a:r>
              <a:rPr lang="en-US" sz="2000" dirty="0"/>
              <a:t> interprets unstructured customer descriptions and maps them to the </a:t>
            </a:r>
            <a:r>
              <a:rPr lang="en-US" sz="2000" b="1" dirty="0"/>
              <a:t>most likely </a:t>
            </a:r>
            <a:r>
              <a:rPr lang="en-US" sz="2000" dirty="0"/>
              <a:t>products in our inventory. </a:t>
            </a:r>
          </a:p>
          <a:p>
            <a:pPr marL="285750" indent="-285750">
              <a:buFont typeface="Arial" panose="020B0604020202020204" pitchFamily="34" charset="0"/>
              <a:buChar char="•"/>
            </a:pPr>
            <a:r>
              <a:rPr lang="en-US" sz="2000" dirty="0"/>
              <a:t>The system replaces manual matching, which currently requires </a:t>
            </a:r>
            <a:r>
              <a:rPr lang="en-US" sz="2000" b="1" dirty="0"/>
              <a:t>2–3 hours of staff time per day </a:t>
            </a:r>
            <a:r>
              <a:rPr lang="en-US" sz="2000" dirty="0"/>
              <a:t>and often leads to fulfillment </a:t>
            </a:r>
            <a:r>
              <a:rPr lang="en-US" sz="2000" b="1" dirty="0"/>
              <a:t>delays</a:t>
            </a:r>
            <a:r>
              <a:rPr lang="en-US" sz="2000" dirty="0"/>
              <a:t> and </a:t>
            </a:r>
            <a:r>
              <a:rPr lang="en-US" sz="2000" b="1" dirty="0"/>
              <a:t>lost</a:t>
            </a:r>
            <a:r>
              <a:rPr lang="en-US" sz="2000" dirty="0"/>
              <a:t> </a:t>
            </a:r>
            <a:r>
              <a:rPr lang="en-US" sz="2000" b="1" dirty="0"/>
              <a:t>sales</a:t>
            </a:r>
            <a:r>
              <a:rPr lang="en-US" sz="2000" dirty="0"/>
              <a:t>.</a:t>
            </a:r>
          </a:p>
          <a:p>
            <a:pPr marL="285750" indent="-285750">
              <a:buFont typeface="Arial" panose="020B0604020202020204" pitchFamily="34" charset="0"/>
              <a:buChar char="•"/>
            </a:pPr>
            <a:r>
              <a:rPr lang="en-US" sz="2000" dirty="0"/>
              <a:t>The </a:t>
            </a:r>
            <a:r>
              <a:rPr lang="en-US" sz="2000" b="1" dirty="0"/>
              <a:t>new</a:t>
            </a:r>
            <a:r>
              <a:rPr lang="en-US" sz="2000" dirty="0"/>
              <a:t> proposed algorithm extracts product attributes, performs semantic similarity search and ranks the most relevant items with confidence scores. </a:t>
            </a:r>
          </a:p>
          <a:p>
            <a:pPr marL="285750" indent="-285750">
              <a:buFont typeface="Arial" panose="020B0604020202020204" pitchFamily="34" charset="0"/>
              <a:buChar char="•"/>
            </a:pPr>
            <a:r>
              <a:rPr lang="en-US" sz="2000" dirty="0"/>
              <a:t>Early tests show strong Top-1 (93.33%) and Top-3 (96.56%) accuracy, indicating high reliability. </a:t>
            </a:r>
            <a:r>
              <a:rPr lang="en-US" sz="2000" b="1" dirty="0"/>
              <a:t>This solution significantly reduces manual workload, increases matching consistency, and improves the customer experience.</a:t>
            </a:r>
          </a:p>
        </p:txBody>
      </p:sp>
    </p:spTree>
    <p:extLst>
      <p:ext uri="{BB962C8B-B14F-4D97-AF65-F5344CB8AC3E}">
        <p14:creationId xmlns:p14="http://schemas.microsoft.com/office/powerpoint/2010/main" val="465836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48845-3852-D4E6-EF42-8024EAC0ED4C}"/>
              </a:ext>
            </a:extLst>
          </p:cNvPr>
          <p:cNvSpPr>
            <a:spLocks noGrp="1"/>
          </p:cNvSpPr>
          <p:nvPr>
            <p:ph type="title"/>
          </p:nvPr>
        </p:nvSpPr>
        <p:spPr>
          <a:xfrm>
            <a:off x="813816" y="621792"/>
            <a:ext cx="8180412" cy="1828800"/>
          </a:xfrm>
        </p:spPr>
        <p:txBody>
          <a:bodyPr/>
          <a:lstStyle/>
          <a:p>
            <a:r>
              <a:rPr lang="en-US" dirty="0"/>
              <a:t>Problem - Business Impact</a:t>
            </a:r>
          </a:p>
        </p:txBody>
      </p:sp>
      <p:sp>
        <p:nvSpPr>
          <p:cNvPr id="5" name="Text Placeholder 4">
            <a:extLst>
              <a:ext uri="{FF2B5EF4-FFF2-40B4-BE49-F238E27FC236}">
                <a16:creationId xmlns:a16="http://schemas.microsoft.com/office/drawing/2014/main" id="{F85AE87B-E37F-614C-6EE5-D03C01018C99}"/>
              </a:ext>
            </a:extLst>
          </p:cNvPr>
          <p:cNvSpPr>
            <a:spLocks noGrp="1"/>
          </p:cNvSpPr>
          <p:nvPr>
            <p:ph sz="quarter" idx="26"/>
          </p:nvPr>
        </p:nvSpPr>
        <p:spPr>
          <a:xfrm>
            <a:off x="813816" y="2695074"/>
            <a:ext cx="4956470" cy="3373851"/>
          </a:xfrm>
        </p:spPr>
        <p:txBody>
          <a:bodyPr/>
          <a:lstStyle/>
          <a:p>
            <a:r>
              <a:rPr lang="en-US" b="1" dirty="0"/>
              <a:t>Problem:</a:t>
            </a:r>
          </a:p>
          <a:p>
            <a:r>
              <a:rPr lang="en-US" dirty="0"/>
              <a:t>Sales teams requests arrive through multiple channels (email, chat, phone, marketplace) and are often incomplete, misspelled, or ambiguous. Staff must manually interpret each request and identify matching items, which leads to:</a:t>
            </a:r>
            <a:endParaRPr lang="en-US" b="1" dirty="0"/>
          </a:p>
          <a:p>
            <a:pPr lvl="1"/>
            <a:r>
              <a:rPr lang="en-US" b="1" dirty="0"/>
              <a:t>2–3 hours of daily manual work </a:t>
            </a:r>
          </a:p>
          <a:p>
            <a:pPr lvl="1"/>
            <a:r>
              <a:rPr lang="en-US" b="1" dirty="0"/>
              <a:t>High chance of mismatches and order delays</a:t>
            </a:r>
          </a:p>
        </p:txBody>
      </p:sp>
      <p:sp>
        <p:nvSpPr>
          <p:cNvPr id="7" name="Text Placeholder 6">
            <a:extLst>
              <a:ext uri="{FF2B5EF4-FFF2-40B4-BE49-F238E27FC236}">
                <a16:creationId xmlns:a16="http://schemas.microsoft.com/office/drawing/2014/main" id="{488F6394-786C-5C79-1DBE-C98788568737}"/>
              </a:ext>
            </a:extLst>
          </p:cNvPr>
          <p:cNvSpPr>
            <a:spLocks noGrp="1"/>
          </p:cNvSpPr>
          <p:nvPr>
            <p:ph sz="quarter" idx="27"/>
          </p:nvPr>
        </p:nvSpPr>
        <p:spPr>
          <a:xfrm>
            <a:off x="6421716" y="2695074"/>
            <a:ext cx="4956470" cy="3373851"/>
          </a:xfrm>
        </p:spPr>
        <p:txBody>
          <a:bodyPr/>
          <a:lstStyle/>
          <a:p>
            <a:r>
              <a:rPr lang="en-US" b="1" dirty="0"/>
              <a:t>Business Impact:</a:t>
            </a:r>
          </a:p>
          <a:p>
            <a:r>
              <a:rPr lang="en-US" dirty="0"/>
              <a:t>Our current process creates several business challenges: </a:t>
            </a:r>
          </a:p>
          <a:p>
            <a:pPr lvl="1"/>
            <a:r>
              <a:rPr lang="en-US" b="1" dirty="0"/>
              <a:t>Lost sales opportunities when suitable alternative products exist but aren’t identified </a:t>
            </a:r>
          </a:p>
          <a:p>
            <a:pPr lvl="1"/>
            <a:r>
              <a:rPr lang="en-US" b="1" dirty="0"/>
              <a:t>Inventory miscommunication and stockout-related confusion</a:t>
            </a:r>
          </a:p>
          <a:p>
            <a:pPr lvl="1"/>
            <a:r>
              <a:rPr lang="en-US" b="1" dirty="0"/>
              <a:t>No structured or scalable way to analyze the most requested products</a:t>
            </a:r>
          </a:p>
        </p:txBody>
      </p:sp>
    </p:spTree>
    <p:extLst>
      <p:ext uri="{BB962C8B-B14F-4D97-AF65-F5344CB8AC3E}">
        <p14:creationId xmlns:p14="http://schemas.microsoft.com/office/powerpoint/2010/main" val="3591555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50C0-2BB1-FABD-B862-7D5EBDB66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AEBD3-454B-9752-581B-A5FEB3C2E14D}"/>
              </a:ext>
            </a:extLst>
          </p:cNvPr>
          <p:cNvSpPr>
            <a:spLocks noGrp="1"/>
          </p:cNvSpPr>
          <p:nvPr>
            <p:ph type="title"/>
          </p:nvPr>
        </p:nvSpPr>
        <p:spPr>
          <a:xfrm>
            <a:off x="4090737" y="633663"/>
            <a:ext cx="7263063" cy="1817109"/>
          </a:xfrm>
        </p:spPr>
        <p:txBody>
          <a:bodyPr/>
          <a:lstStyle/>
          <a:p>
            <a:r>
              <a:rPr lang="en-US" dirty="0"/>
              <a:t>Model Approach</a:t>
            </a:r>
          </a:p>
        </p:txBody>
      </p:sp>
      <p:sp>
        <p:nvSpPr>
          <p:cNvPr id="3" name="Text Placeholder 2">
            <a:extLst>
              <a:ext uri="{FF2B5EF4-FFF2-40B4-BE49-F238E27FC236}">
                <a16:creationId xmlns:a16="http://schemas.microsoft.com/office/drawing/2014/main" id="{D5F39096-79C4-A53C-ACDE-C4B4EAE1A40F}"/>
              </a:ext>
            </a:extLst>
          </p:cNvPr>
          <p:cNvSpPr>
            <a:spLocks noGrp="1"/>
          </p:cNvSpPr>
          <p:nvPr>
            <p:ph sz="quarter" idx="26"/>
          </p:nvPr>
        </p:nvSpPr>
        <p:spPr>
          <a:xfrm>
            <a:off x="4090737" y="1387643"/>
            <a:ext cx="7828546" cy="4740442"/>
          </a:xfrm>
        </p:spPr>
        <p:txBody>
          <a:bodyPr anchor="b"/>
          <a:lstStyle/>
          <a:p>
            <a:r>
              <a:rPr lang="en-US" dirty="0"/>
              <a:t>The solution uses </a:t>
            </a:r>
            <a:r>
              <a:rPr lang="en-US" b="1" dirty="0"/>
              <a:t>AI</a:t>
            </a:r>
            <a:r>
              <a:rPr lang="en-US" dirty="0"/>
              <a:t> to understand the meaning of a sales team’s description, </a:t>
            </a:r>
            <a:r>
              <a:rPr lang="en-US" b="1" dirty="0"/>
              <a:t>extract key details </a:t>
            </a:r>
            <a:r>
              <a:rPr lang="en-US" dirty="0"/>
              <a:t>and </a:t>
            </a:r>
            <a:r>
              <a:rPr lang="en-US" b="1" dirty="0"/>
              <a:t>match them </a:t>
            </a:r>
            <a:r>
              <a:rPr lang="en-US" dirty="0"/>
              <a:t>to </a:t>
            </a:r>
            <a:r>
              <a:rPr lang="en-US" b="1" dirty="0"/>
              <a:t>the most relevant product </a:t>
            </a:r>
            <a:r>
              <a:rPr lang="en-US" dirty="0"/>
              <a:t>in the catalog, while also giving the </a:t>
            </a:r>
            <a:r>
              <a:rPr lang="en-US" b="1" dirty="0"/>
              <a:t>3 most possible alternative options.</a:t>
            </a:r>
          </a:p>
          <a:p>
            <a:r>
              <a:rPr lang="en-US" b="1" dirty="0"/>
              <a:t>The process works in four steps:</a:t>
            </a:r>
          </a:p>
          <a:p>
            <a:pPr marL="285750" indent="-285750">
              <a:buFont typeface="Arial" panose="020B0604020202020204" pitchFamily="34" charset="0"/>
              <a:buChar char="•"/>
            </a:pPr>
            <a:r>
              <a:rPr lang="en-US" b="1" dirty="0"/>
              <a:t>Attribute Extraction</a:t>
            </a:r>
            <a:r>
              <a:rPr lang="en-US" dirty="0"/>
              <a:t>: The system identifies color, size, brand, material, category, season and other attributes even with misspellings.</a:t>
            </a:r>
          </a:p>
          <a:p>
            <a:pPr marL="285750" indent="-285750">
              <a:buFont typeface="Arial" panose="020B0604020202020204" pitchFamily="34" charset="0"/>
              <a:buChar char="•"/>
            </a:pPr>
            <a:r>
              <a:rPr lang="en-US" b="1" dirty="0"/>
              <a:t>Hard Filtering</a:t>
            </a:r>
            <a:r>
              <a:rPr lang="en-US" dirty="0"/>
              <a:t>: Products are filtered by strict attributes such as category, subcategory, season and year to narrow the search.</a:t>
            </a:r>
          </a:p>
          <a:p>
            <a:pPr marL="285750" indent="-285750">
              <a:buFont typeface="Arial" panose="020B0604020202020204" pitchFamily="34" charset="0"/>
              <a:buChar char="•"/>
            </a:pPr>
            <a:r>
              <a:rPr lang="en-US" b="1" dirty="0"/>
              <a:t>Semantic Matching</a:t>
            </a:r>
            <a:r>
              <a:rPr lang="en-US" dirty="0"/>
              <a:t>: AI compares the meaning of the description with every product’s attributes from our catalogue, ranking the closest matches using cosine similarity.</a:t>
            </a:r>
          </a:p>
          <a:p>
            <a:pPr marL="285750" indent="-285750">
              <a:buFont typeface="Arial" panose="020B0604020202020204" pitchFamily="34" charset="0"/>
              <a:buChar char="•"/>
            </a:pPr>
            <a:r>
              <a:rPr lang="en-US" b="1" dirty="0"/>
              <a:t>Re-Ranking and Scoring</a:t>
            </a:r>
            <a:r>
              <a:rPr lang="en-US" dirty="0"/>
              <a:t>: Products receive additional boosts for matching attributes (color, brand, material), producing a final </a:t>
            </a:r>
            <a:r>
              <a:rPr lang="en-US" b="1" dirty="0"/>
              <a:t>confidence score</a:t>
            </a:r>
            <a:r>
              <a:rPr lang="en-US" dirty="0"/>
              <a:t> and </a:t>
            </a:r>
            <a:r>
              <a:rPr lang="en-US" b="1" dirty="0"/>
              <a:t>selecting the top match plus three strong alternatives</a:t>
            </a:r>
            <a:r>
              <a:rPr lang="en-US" dirty="0"/>
              <a:t>.</a:t>
            </a:r>
            <a:br>
              <a:rPr lang="en-US" dirty="0"/>
            </a:br>
            <a:r>
              <a:rPr lang="en-US" dirty="0"/>
              <a:t>This approach ensures both accuracy and transparency.</a:t>
            </a:r>
            <a:endParaRPr lang="en-US" b="1" dirty="0"/>
          </a:p>
        </p:txBody>
      </p:sp>
    </p:spTree>
    <p:extLst>
      <p:ext uri="{BB962C8B-B14F-4D97-AF65-F5344CB8AC3E}">
        <p14:creationId xmlns:p14="http://schemas.microsoft.com/office/powerpoint/2010/main" val="3357147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D54C-43F2-5790-A2E6-4F0C84CDED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520BDC-68F1-D47F-7DFC-FAE57221D125}"/>
              </a:ext>
            </a:extLst>
          </p:cNvPr>
          <p:cNvSpPr>
            <a:spLocks noGrp="1"/>
          </p:cNvSpPr>
          <p:nvPr>
            <p:ph type="title"/>
          </p:nvPr>
        </p:nvSpPr>
        <p:spPr>
          <a:xfrm>
            <a:off x="813816" y="621792"/>
            <a:ext cx="8180412" cy="1828800"/>
          </a:xfrm>
        </p:spPr>
        <p:txBody>
          <a:bodyPr/>
          <a:lstStyle/>
          <a:p>
            <a:r>
              <a:rPr lang="en-US" dirty="0"/>
              <a:t>Performance - Results</a:t>
            </a:r>
          </a:p>
        </p:txBody>
      </p:sp>
      <p:sp>
        <p:nvSpPr>
          <p:cNvPr id="5" name="Text Placeholder 4">
            <a:extLst>
              <a:ext uri="{FF2B5EF4-FFF2-40B4-BE49-F238E27FC236}">
                <a16:creationId xmlns:a16="http://schemas.microsoft.com/office/drawing/2014/main" id="{69E30D12-42AC-DAA7-A448-9E87A4B69A5C}"/>
              </a:ext>
            </a:extLst>
          </p:cNvPr>
          <p:cNvSpPr>
            <a:spLocks noGrp="1"/>
          </p:cNvSpPr>
          <p:nvPr>
            <p:ph sz="quarter" idx="26"/>
          </p:nvPr>
        </p:nvSpPr>
        <p:spPr>
          <a:xfrm>
            <a:off x="813814" y="2302042"/>
            <a:ext cx="5081660" cy="3766883"/>
          </a:xfrm>
        </p:spPr>
        <p:txBody>
          <a:bodyPr/>
          <a:lstStyle/>
          <a:p>
            <a:r>
              <a:rPr lang="en-US" b="1" dirty="0"/>
              <a:t>Performance was evaluated using a labeled test set of 30 synthetic customer descriptions.</a:t>
            </a:r>
            <a:br>
              <a:rPr lang="en-US" dirty="0"/>
            </a:br>
            <a:br>
              <a:rPr lang="en-US" dirty="0"/>
            </a:br>
            <a:r>
              <a:rPr lang="en-US" dirty="0"/>
              <a:t>Key metrics used to validate the algorithm included:</a:t>
            </a:r>
            <a:endParaRPr lang="en-US" b="1" dirty="0"/>
          </a:p>
          <a:p>
            <a:pPr marL="285750" indent="-285750">
              <a:buFont typeface="Arial" panose="020B0604020202020204" pitchFamily="34" charset="0"/>
              <a:buChar char="•"/>
            </a:pPr>
            <a:r>
              <a:rPr lang="en-US" b="1" dirty="0"/>
              <a:t>Top-1 Accuracy</a:t>
            </a:r>
            <a:r>
              <a:rPr lang="en-US" dirty="0"/>
              <a:t>: How often the best predicted SKU matches the true product.</a:t>
            </a:r>
          </a:p>
          <a:p>
            <a:pPr marL="285750" indent="-285750">
              <a:buFont typeface="Arial" panose="020B0604020202020204" pitchFamily="34" charset="0"/>
              <a:buChar char="•"/>
            </a:pPr>
            <a:r>
              <a:rPr lang="en-US" b="1" dirty="0"/>
              <a:t>Top-3 Accuracy</a:t>
            </a:r>
            <a:r>
              <a:rPr lang="en-US" dirty="0"/>
              <a:t>: Whether the correct product appears among the top three results.</a:t>
            </a:r>
          </a:p>
          <a:p>
            <a:pPr marL="285750" indent="-285750">
              <a:buFont typeface="Arial" panose="020B0604020202020204" pitchFamily="34" charset="0"/>
              <a:buChar char="•"/>
            </a:pPr>
            <a:r>
              <a:rPr lang="en-US" dirty="0"/>
              <a:t> </a:t>
            </a:r>
            <a:r>
              <a:rPr lang="en-US" b="1" dirty="0"/>
              <a:t>Precision &amp; Recall</a:t>
            </a:r>
            <a:r>
              <a:rPr lang="en-US" dirty="0"/>
              <a:t>: Reliability and completeness of the predictions.</a:t>
            </a:r>
          </a:p>
          <a:p>
            <a:pPr marL="285750" indent="-285750">
              <a:buFont typeface="Arial" panose="020B0604020202020204" pitchFamily="34" charset="0"/>
              <a:buChar char="•"/>
            </a:pPr>
            <a:r>
              <a:rPr lang="en-US" b="1" dirty="0"/>
              <a:t>Confidence Distribution</a:t>
            </a:r>
            <a:r>
              <a:rPr lang="en-US" dirty="0"/>
              <a:t>: How confident the system is across all queries.</a:t>
            </a:r>
            <a:endParaRPr lang="en-US" b="1" dirty="0"/>
          </a:p>
        </p:txBody>
      </p:sp>
      <p:sp>
        <p:nvSpPr>
          <p:cNvPr id="7" name="Text Placeholder 6">
            <a:extLst>
              <a:ext uri="{FF2B5EF4-FFF2-40B4-BE49-F238E27FC236}">
                <a16:creationId xmlns:a16="http://schemas.microsoft.com/office/drawing/2014/main" id="{6556AAA6-F975-2307-4ADB-F65F8A60245A}"/>
              </a:ext>
            </a:extLst>
          </p:cNvPr>
          <p:cNvSpPr>
            <a:spLocks noGrp="1"/>
          </p:cNvSpPr>
          <p:nvPr>
            <p:ph sz="quarter" idx="27"/>
          </p:nvPr>
        </p:nvSpPr>
        <p:spPr>
          <a:xfrm>
            <a:off x="6232357" y="2302042"/>
            <a:ext cx="5574631" cy="3766883"/>
          </a:xfrm>
        </p:spPr>
        <p:txBody>
          <a:bodyPr/>
          <a:lstStyle/>
          <a:p>
            <a:r>
              <a:rPr lang="en-US" b="1" dirty="0"/>
              <a:t>Results:</a:t>
            </a:r>
          </a:p>
          <a:p>
            <a:pPr marL="285750" indent="-285750">
              <a:buFont typeface="Arial" panose="020B0604020202020204" pitchFamily="34" charset="0"/>
              <a:buChar char="•"/>
            </a:pPr>
            <a:r>
              <a:rPr lang="en-US" b="1" dirty="0"/>
              <a:t>Top-1 Accuracy</a:t>
            </a:r>
            <a:r>
              <a:rPr lang="en-US" dirty="0"/>
              <a:t>: </a:t>
            </a:r>
            <a:r>
              <a:rPr lang="en-US" sz="2000" b="1" dirty="0">
                <a:solidFill>
                  <a:srgbClr val="FF0000"/>
                </a:solidFill>
              </a:rPr>
              <a:t>93.33%</a:t>
            </a:r>
            <a:endParaRPr lang="en-US" sz="2400" b="1" dirty="0">
              <a:solidFill>
                <a:srgbClr val="FF0000"/>
              </a:solidFill>
            </a:endParaRPr>
          </a:p>
          <a:p>
            <a:pPr marL="285750" indent="-285750">
              <a:buFont typeface="Arial" panose="020B0604020202020204" pitchFamily="34" charset="0"/>
              <a:buChar char="•"/>
            </a:pPr>
            <a:r>
              <a:rPr lang="en-US" b="1" dirty="0"/>
              <a:t>Top-3 Accuracy</a:t>
            </a:r>
            <a:r>
              <a:rPr lang="en-US" dirty="0"/>
              <a:t>: </a:t>
            </a:r>
            <a:r>
              <a:rPr lang="en-US" sz="2000" b="1" dirty="0">
                <a:solidFill>
                  <a:srgbClr val="FF0000"/>
                </a:solidFill>
              </a:rPr>
              <a:t>96.56%</a:t>
            </a:r>
          </a:p>
          <a:p>
            <a:pPr marL="285750" indent="-285750">
              <a:buFont typeface="Arial" panose="020B0604020202020204" pitchFamily="34" charset="0"/>
              <a:buChar char="•"/>
            </a:pPr>
            <a:r>
              <a:rPr lang="en-US" b="1" dirty="0"/>
              <a:t>Precision &amp; Recall</a:t>
            </a:r>
            <a:r>
              <a:rPr lang="en-US" dirty="0"/>
              <a:t>: </a:t>
            </a:r>
            <a:r>
              <a:rPr lang="en-US" sz="2000" b="1" dirty="0">
                <a:solidFill>
                  <a:srgbClr val="FF0000"/>
                </a:solidFill>
              </a:rPr>
              <a:t>87.5%</a:t>
            </a:r>
          </a:p>
          <a:p>
            <a:pPr marL="285750" indent="-285750">
              <a:buFont typeface="Arial" panose="020B0604020202020204" pitchFamily="34" charset="0"/>
              <a:buChar char="•"/>
            </a:pPr>
            <a:endParaRPr lang="en-US" sz="2000" b="1" dirty="0">
              <a:solidFill>
                <a:srgbClr val="FF0000"/>
              </a:solidFill>
            </a:endParaRPr>
          </a:p>
          <a:p>
            <a:r>
              <a:rPr lang="en-US" sz="2000" b="1" dirty="0"/>
              <a:t>These results show that the model consistently identifies the correct product and provides highly reliable alternatives, making it suitable for real-world deployment.</a:t>
            </a:r>
            <a:endParaRPr lang="en-US" sz="2000" b="1" dirty="0">
              <a:solidFill>
                <a:srgbClr val="FF0000"/>
              </a:solidFill>
            </a:endParaRPr>
          </a:p>
          <a:p>
            <a:endParaRPr lang="en-US" sz="2000" b="1" dirty="0">
              <a:solidFill>
                <a:srgbClr val="FF0000"/>
              </a:solidFill>
            </a:endParaRPr>
          </a:p>
        </p:txBody>
      </p:sp>
    </p:spTree>
    <p:extLst>
      <p:ext uri="{BB962C8B-B14F-4D97-AF65-F5344CB8AC3E}">
        <p14:creationId xmlns:p14="http://schemas.microsoft.com/office/powerpoint/2010/main" val="89298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04FD0-1A13-B814-3B37-38DAE8823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B97DA-30DB-21BD-4DBD-1A290357D7E6}"/>
              </a:ext>
            </a:extLst>
          </p:cNvPr>
          <p:cNvSpPr>
            <a:spLocks noGrp="1"/>
          </p:cNvSpPr>
          <p:nvPr>
            <p:ph type="title"/>
          </p:nvPr>
        </p:nvSpPr>
        <p:spPr>
          <a:xfrm>
            <a:off x="3874168" y="256674"/>
            <a:ext cx="7479633" cy="1684027"/>
          </a:xfrm>
        </p:spPr>
        <p:txBody>
          <a:bodyPr/>
          <a:lstStyle/>
          <a:p>
            <a:r>
              <a:rPr lang="en-US" dirty="0"/>
              <a:t>Visualizations</a:t>
            </a:r>
          </a:p>
        </p:txBody>
      </p:sp>
      <p:sp>
        <p:nvSpPr>
          <p:cNvPr id="3" name="Text Placeholder 2">
            <a:extLst>
              <a:ext uri="{FF2B5EF4-FFF2-40B4-BE49-F238E27FC236}">
                <a16:creationId xmlns:a16="http://schemas.microsoft.com/office/drawing/2014/main" id="{F6B0D66F-36B8-E028-5AF4-7F410974CF09}"/>
              </a:ext>
            </a:extLst>
          </p:cNvPr>
          <p:cNvSpPr>
            <a:spLocks noGrp="1"/>
          </p:cNvSpPr>
          <p:nvPr>
            <p:ph sz="quarter" idx="26"/>
          </p:nvPr>
        </p:nvSpPr>
        <p:spPr>
          <a:xfrm>
            <a:off x="3874168" y="1098884"/>
            <a:ext cx="7932819" cy="705853"/>
          </a:xfrm>
        </p:spPr>
        <p:txBody>
          <a:bodyPr anchor="b"/>
          <a:lstStyle/>
          <a:p>
            <a:r>
              <a:rPr lang="en-US" b="1" dirty="0"/>
              <a:t>Confidence Distribution – </a:t>
            </a:r>
            <a:r>
              <a:rPr lang="en-US" dirty="0"/>
              <a:t>The algorithm maintains an average confidence of around </a:t>
            </a:r>
            <a:r>
              <a:rPr lang="en-US" b="1" dirty="0">
                <a:solidFill>
                  <a:schemeClr val="accent6"/>
                </a:solidFill>
              </a:rPr>
              <a:t>85%</a:t>
            </a:r>
            <a:r>
              <a:rPr lang="en-US" dirty="0"/>
              <a:t>, with even lower-confidence predictions still proving highly accurate.</a:t>
            </a:r>
            <a:endParaRPr lang="en-US" b="1" dirty="0"/>
          </a:p>
        </p:txBody>
      </p:sp>
      <p:pic>
        <p:nvPicPr>
          <p:cNvPr id="5" name="Picture 4">
            <a:extLst>
              <a:ext uri="{FF2B5EF4-FFF2-40B4-BE49-F238E27FC236}">
                <a16:creationId xmlns:a16="http://schemas.microsoft.com/office/drawing/2014/main" id="{FCB68975-58F3-570E-0787-B023F2B5185A}"/>
              </a:ext>
            </a:extLst>
          </p:cNvPr>
          <p:cNvPicPr>
            <a:picLocks noChangeAspect="1"/>
          </p:cNvPicPr>
          <p:nvPr/>
        </p:nvPicPr>
        <p:blipFill>
          <a:blip r:embed="rId3"/>
          <a:stretch>
            <a:fillRect/>
          </a:stretch>
        </p:blipFill>
        <p:spPr>
          <a:xfrm>
            <a:off x="6193343" y="1621057"/>
            <a:ext cx="3587944" cy="2306126"/>
          </a:xfrm>
          <a:prstGeom prst="rect">
            <a:avLst/>
          </a:prstGeom>
        </p:spPr>
      </p:pic>
      <p:pic>
        <p:nvPicPr>
          <p:cNvPr id="7" name="Picture 6">
            <a:extLst>
              <a:ext uri="{FF2B5EF4-FFF2-40B4-BE49-F238E27FC236}">
                <a16:creationId xmlns:a16="http://schemas.microsoft.com/office/drawing/2014/main" id="{7018A6C1-D25A-BBA4-15E7-00A2D293AF28}"/>
              </a:ext>
            </a:extLst>
          </p:cNvPr>
          <p:cNvPicPr>
            <a:picLocks noChangeAspect="1"/>
          </p:cNvPicPr>
          <p:nvPr/>
        </p:nvPicPr>
        <p:blipFill>
          <a:blip r:embed="rId4"/>
          <a:stretch>
            <a:fillRect/>
          </a:stretch>
        </p:blipFill>
        <p:spPr>
          <a:xfrm>
            <a:off x="6193343" y="4675146"/>
            <a:ext cx="3587944" cy="2122446"/>
          </a:xfrm>
          <a:prstGeom prst="rect">
            <a:avLst/>
          </a:prstGeom>
        </p:spPr>
      </p:pic>
      <p:sp>
        <p:nvSpPr>
          <p:cNvPr id="12" name="TextBox 11">
            <a:extLst>
              <a:ext uri="{FF2B5EF4-FFF2-40B4-BE49-F238E27FC236}">
                <a16:creationId xmlns:a16="http://schemas.microsoft.com/office/drawing/2014/main" id="{0A411F98-E255-2DA6-F1E7-C6BB85EDF8BE}"/>
              </a:ext>
            </a:extLst>
          </p:cNvPr>
          <p:cNvSpPr txBox="1"/>
          <p:nvPr/>
        </p:nvSpPr>
        <p:spPr>
          <a:xfrm>
            <a:off x="3761874" y="4002506"/>
            <a:ext cx="7399422" cy="923330"/>
          </a:xfrm>
          <a:prstGeom prst="rect">
            <a:avLst/>
          </a:prstGeom>
          <a:noFill/>
        </p:spPr>
        <p:txBody>
          <a:bodyPr wrap="square" rtlCol="0">
            <a:spAutoFit/>
          </a:bodyPr>
          <a:lstStyle/>
          <a:p>
            <a:r>
              <a:rPr lang="en-US" b="1" dirty="0">
                <a:solidFill>
                  <a:schemeClr val="bg1"/>
                </a:solidFill>
              </a:rPr>
              <a:t>Primary Match per Category </a:t>
            </a:r>
            <a:r>
              <a:rPr lang="en-US" dirty="0">
                <a:solidFill>
                  <a:schemeClr val="bg1"/>
                </a:solidFill>
              </a:rPr>
              <a:t>– The algorithm matches </a:t>
            </a:r>
            <a:r>
              <a:rPr lang="en-US" b="1" dirty="0">
                <a:solidFill>
                  <a:schemeClr val="accent6"/>
                </a:solidFill>
              </a:rPr>
              <a:t>100%</a:t>
            </a:r>
            <a:r>
              <a:rPr lang="en-US" dirty="0">
                <a:solidFill>
                  <a:schemeClr val="bg1"/>
                </a:solidFill>
              </a:rPr>
              <a:t> of bottoms, footwear and outwear while matching over </a:t>
            </a:r>
            <a:r>
              <a:rPr lang="en-US" b="1" dirty="0">
                <a:solidFill>
                  <a:schemeClr val="accent6"/>
                </a:solidFill>
              </a:rPr>
              <a:t>80% </a:t>
            </a:r>
            <a:r>
              <a:rPr lang="en-US" dirty="0">
                <a:solidFill>
                  <a:schemeClr val="bg1"/>
                </a:solidFill>
              </a:rPr>
              <a:t>on dresses and tops in the test.</a:t>
            </a:r>
          </a:p>
        </p:txBody>
      </p:sp>
    </p:spTree>
    <p:extLst>
      <p:ext uri="{BB962C8B-B14F-4D97-AF65-F5344CB8AC3E}">
        <p14:creationId xmlns:p14="http://schemas.microsoft.com/office/powerpoint/2010/main" val="1637066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A7019F-FB8F-0842-186B-1C366F527A19}"/>
              </a:ext>
            </a:extLst>
          </p:cNvPr>
          <p:cNvSpPr>
            <a:spLocks noGrp="1"/>
          </p:cNvSpPr>
          <p:nvPr>
            <p:ph type="title"/>
          </p:nvPr>
        </p:nvSpPr>
        <p:spPr>
          <a:xfrm>
            <a:off x="811184" y="621972"/>
            <a:ext cx="9872857" cy="1828800"/>
          </a:xfrm>
        </p:spPr>
        <p:txBody>
          <a:bodyPr/>
          <a:lstStyle/>
          <a:p>
            <a:r>
              <a:rPr lang="en-US" sz="3600" dirty="0"/>
              <a:t>Business Recommendations - ROI</a:t>
            </a:r>
          </a:p>
        </p:txBody>
      </p:sp>
      <p:sp>
        <p:nvSpPr>
          <p:cNvPr id="4" name="Text Placeholder 3">
            <a:extLst>
              <a:ext uri="{FF2B5EF4-FFF2-40B4-BE49-F238E27FC236}">
                <a16:creationId xmlns:a16="http://schemas.microsoft.com/office/drawing/2014/main" id="{32396622-BFDE-D806-F80F-CB3D2EE19A50}"/>
              </a:ext>
            </a:extLst>
          </p:cNvPr>
          <p:cNvSpPr>
            <a:spLocks noGrp="1"/>
          </p:cNvSpPr>
          <p:nvPr>
            <p:ph sz="quarter" idx="26"/>
          </p:nvPr>
        </p:nvSpPr>
        <p:spPr>
          <a:xfrm>
            <a:off x="441159" y="1748589"/>
            <a:ext cx="5976742" cy="4366461"/>
          </a:xfrm>
        </p:spPr>
        <p:txBody>
          <a:bodyPr/>
          <a:lstStyle/>
          <a:p>
            <a:r>
              <a:rPr lang="en-US" sz="2000" b="1" dirty="0"/>
              <a:t>Operational Recommendations:</a:t>
            </a:r>
          </a:p>
          <a:p>
            <a:pPr marL="342900" indent="-342900">
              <a:buFont typeface="+mj-lt"/>
              <a:buAutoNum type="arabicPeriod"/>
            </a:pPr>
            <a:r>
              <a:rPr lang="en-US" b="1" dirty="0"/>
              <a:t>Confidence Threshold</a:t>
            </a:r>
            <a:br>
              <a:rPr lang="en-US" dirty="0"/>
            </a:br>
            <a:r>
              <a:rPr lang="en-US" dirty="0"/>
              <a:t>Auto-approve matches ≥60% confidence; lower scores flagged for manual review.</a:t>
            </a:r>
          </a:p>
          <a:p>
            <a:pPr marL="342900" indent="-342900">
              <a:buFont typeface="+mj-lt"/>
              <a:buAutoNum type="arabicPeriod"/>
            </a:pPr>
            <a:r>
              <a:rPr lang="en-US" b="1" dirty="0"/>
              <a:t>Alert System</a:t>
            </a:r>
            <a:br>
              <a:rPr lang="en-US" b="1" dirty="0"/>
            </a:br>
            <a:r>
              <a:rPr lang="en-US" dirty="0"/>
              <a:t>Trigger alerts for spikes in low-confidence predictions or repeated misses in specific categories.</a:t>
            </a:r>
          </a:p>
          <a:p>
            <a:pPr marL="342900" indent="-342900">
              <a:buFont typeface="+mj-lt"/>
              <a:buAutoNum type="arabicPeriod"/>
            </a:pPr>
            <a:r>
              <a:rPr lang="en-US" b="1" dirty="0"/>
              <a:t>Catalog Improvements</a:t>
            </a:r>
            <a:br>
              <a:rPr lang="en-US" dirty="0"/>
            </a:br>
            <a:r>
              <a:rPr lang="en-US" dirty="0"/>
              <a:t>Address missing values and consider adding new features as description patterns evolve.</a:t>
            </a:r>
          </a:p>
          <a:p>
            <a:pPr marL="342900" indent="-342900">
              <a:buFont typeface="+mj-lt"/>
              <a:buAutoNum type="arabicPeriod"/>
            </a:pPr>
            <a:r>
              <a:rPr lang="en-US" b="1" dirty="0"/>
              <a:t>Scalability</a:t>
            </a:r>
            <a:br>
              <a:rPr lang="en-US" b="1" dirty="0"/>
            </a:br>
            <a:r>
              <a:rPr lang="en-US" dirty="0"/>
              <a:t>Test model under real-time conditions for speed and robustness. </a:t>
            </a:r>
            <a:br>
              <a:rPr lang="en-US" dirty="0"/>
            </a:br>
            <a:r>
              <a:rPr lang="en-US" dirty="0"/>
              <a:t>Use GPU servers and scheduled retraining for long-term efficiency.</a:t>
            </a:r>
            <a:br>
              <a:rPr lang="en-US" dirty="0"/>
            </a:br>
            <a:endParaRPr lang="en-US" dirty="0"/>
          </a:p>
        </p:txBody>
      </p:sp>
      <p:sp>
        <p:nvSpPr>
          <p:cNvPr id="6" name="Text Placeholder 5">
            <a:extLst>
              <a:ext uri="{FF2B5EF4-FFF2-40B4-BE49-F238E27FC236}">
                <a16:creationId xmlns:a16="http://schemas.microsoft.com/office/drawing/2014/main" id="{D2BBBA10-FE5A-0E22-8734-469B03FFEFCC}"/>
              </a:ext>
            </a:extLst>
          </p:cNvPr>
          <p:cNvSpPr>
            <a:spLocks noGrp="1"/>
          </p:cNvSpPr>
          <p:nvPr>
            <p:ph sz="quarter" idx="27"/>
          </p:nvPr>
        </p:nvSpPr>
        <p:spPr>
          <a:xfrm>
            <a:off x="6561222" y="1684421"/>
            <a:ext cx="4819594" cy="4430629"/>
          </a:xfrm>
        </p:spPr>
        <p:txBody>
          <a:bodyPr/>
          <a:lstStyle/>
          <a:p>
            <a:pPr marL="0" indent="0">
              <a:buNone/>
            </a:pPr>
            <a:r>
              <a:rPr lang="en-US" sz="2000" b="1" dirty="0"/>
              <a:t>ROI</a:t>
            </a:r>
            <a:r>
              <a:rPr lang="en-US" b="1" dirty="0"/>
              <a:t>:</a:t>
            </a:r>
          </a:p>
          <a:p>
            <a:pPr marL="285750" indent="-285750">
              <a:buFont typeface="Arial" panose="020B0604020202020204" pitchFamily="34" charset="0"/>
              <a:buChar char="•"/>
            </a:pPr>
            <a:r>
              <a:rPr lang="en-US" b="1" dirty="0"/>
              <a:t>70–90% reduction in manual matching time</a:t>
            </a:r>
            <a:r>
              <a:rPr lang="en-US" dirty="0"/>
              <a:t> → frees 2–3 hours of staff workload daily.</a:t>
            </a:r>
          </a:p>
          <a:p>
            <a:pPr marL="285750" indent="-285750">
              <a:buFont typeface="Arial" panose="020B0604020202020204" pitchFamily="34" charset="0"/>
              <a:buChar char="•"/>
            </a:pPr>
            <a:r>
              <a:rPr lang="en-US" b="1" dirty="0"/>
              <a:t>Fewer fulfillment errors</a:t>
            </a:r>
            <a:r>
              <a:rPr lang="en-US" dirty="0"/>
              <a:t> → higher customer satisfaction and lower return rates.</a:t>
            </a:r>
          </a:p>
          <a:p>
            <a:pPr marL="285750" indent="-285750">
              <a:buFont typeface="Arial" panose="020B0604020202020204" pitchFamily="34" charset="0"/>
              <a:buChar char="•"/>
            </a:pPr>
            <a:r>
              <a:rPr lang="en-US" b="1" dirty="0"/>
              <a:t>Improved product discovery</a:t>
            </a:r>
            <a:r>
              <a:rPr lang="en-US" dirty="0"/>
              <a:t> → captures missed sales where alternatives exist.</a:t>
            </a:r>
          </a:p>
          <a:p>
            <a:pPr marL="285750" indent="-285750">
              <a:buFont typeface="Arial" panose="020B0604020202020204" pitchFamily="34" charset="0"/>
              <a:buChar char="•"/>
            </a:pPr>
            <a:r>
              <a:rPr lang="en-US" b="1" dirty="0"/>
              <a:t>Better inventory insights</a:t>
            </a:r>
            <a:r>
              <a:rPr lang="en-US" dirty="0"/>
              <a:t> → identifies most-requested items and stockout risks.</a:t>
            </a:r>
          </a:p>
          <a:p>
            <a:pPr marL="285750" indent="-285750">
              <a:buFont typeface="Arial" panose="020B0604020202020204" pitchFamily="34" charset="0"/>
              <a:buChar char="•"/>
            </a:pPr>
            <a:r>
              <a:rPr lang="en-US" b="1" dirty="0"/>
              <a:t>Fast deployment</a:t>
            </a:r>
            <a:r>
              <a:rPr lang="en-US" dirty="0"/>
              <a:t> → model runs on existing product data and scales easily with catalog growth.</a:t>
            </a:r>
            <a:endParaRPr lang="en-US" b="1" dirty="0"/>
          </a:p>
        </p:txBody>
      </p:sp>
    </p:spTree>
    <p:extLst>
      <p:ext uri="{BB962C8B-B14F-4D97-AF65-F5344CB8AC3E}">
        <p14:creationId xmlns:p14="http://schemas.microsoft.com/office/powerpoint/2010/main" val="606303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811184" y="612647"/>
            <a:ext cx="10002589" cy="3657600"/>
          </a:xfrm>
        </p:spPr>
        <p:txBody>
          <a:bodyPr/>
          <a:lstStyle/>
          <a:p>
            <a:r>
              <a:rPr lang="en-US" dirty="0"/>
              <a:t>Thank you</a:t>
            </a:r>
          </a:p>
        </p:txBody>
      </p:sp>
      <p:sp>
        <p:nvSpPr>
          <p:cNvPr id="3" name="Subtitle 2">
            <a:extLst>
              <a:ext uri="{FF2B5EF4-FFF2-40B4-BE49-F238E27FC236}">
                <a16:creationId xmlns:a16="http://schemas.microsoft.com/office/drawing/2014/main" id="{8CFA4869-4108-EB15-4EB0-B65C291C5D97}"/>
              </a:ext>
            </a:extLst>
          </p:cNvPr>
          <p:cNvSpPr>
            <a:spLocks noGrp="1"/>
          </p:cNvSpPr>
          <p:nvPr>
            <p:ph type="subTitle" idx="1"/>
          </p:nvPr>
        </p:nvSpPr>
        <p:spPr>
          <a:xfrm>
            <a:off x="811185" y="4724033"/>
            <a:ext cx="7000972" cy="1709423"/>
          </a:xfrm>
        </p:spPr>
        <p:txBody>
          <a:bodyPr/>
          <a:lstStyle/>
          <a:p>
            <a:r>
              <a:rPr lang="en-US" dirty="0"/>
              <a:t>Konstantinos Christogeorgos</a:t>
            </a:r>
          </a:p>
        </p:txBody>
      </p:sp>
    </p:spTree>
    <p:extLst>
      <p:ext uri="{BB962C8B-B14F-4D97-AF65-F5344CB8AC3E}">
        <p14:creationId xmlns:p14="http://schemas.microsoft.com/office/powerpoint/2010/main" val="3784505952"/>
      </p:ext>
    </p:extLst>
  </p:cSld>
  <p:clrMapOvr>
    <a:masterClrMapping/>
  </p:clrMapOvr>
</p:sld>
</file>

<file path=ppt/theme/theme1.xml><?xml version="1.0" encoding="utf-8"?>
<a:theme xmlns:a="http://schemas.openxmlformats.org/drawingml/2006/main" name="Custom">
  <a:themeElements>
    <a:clrScheme name="Training-presentation">
      <a:dk1>
        <a:srgbClr val="000000"/>
      </a:dk1>
      <a:lt1>
        <a:srgbClr val="FFFFFF"/>
      </a:lt1>
      <a:dk2>
        <a:srgbClr val="112CC1"/>
      </a:dk2>
      <a:lt2>
        <a:srgbClr val="E7E6E6"/>
      </a:lt2>
      <a:accent1>
        <a:srgbClr val="FF7128"/>
      </a:accent1>
      <a:accent2>
        <a:srgbClr val="FF2828"/>
      </a:accent2>
      <a:accent3>
        <a:srgbClr val="2849FD"/>
      </a:accent3>
      <a:accent4>
        <a:srgbClr val="D3DDFE"/>
      </a:accent4>
      <a:accent5>
        <a:srgbClr val="FBFF22"/>
      </a:accent5>
      <a:accent6>
        <a:srgbClr val="D90000"/>
      </a:accent6>
      <a:hlink>
        <a:srgbClr val="0563C1"/>
      </a:hlink>
      <a:folHlink>
        <a:srgbClr val="954F72"/>
      </a:folHlink>
    </a:clrScheme>
    <a:fontScheme name="Custom 12">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03460604_win32_SL_V10" id="{99B34821-6204-44CE-8DD7-2088F7B07FF3}" vid="{E244DE33-B49D-4797-B149-ADA6E5DF59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7C52C5-6F65-4D42-B855-A3283C5558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5B6D968-3BA5-45CA-AFA4-01F84FB04FAA}">
  <ds:schemaRefs>
    <ds:schemaRef ds:uri="http://schemas.microsoft.com/sharepoint/v3/contenttype/forms"/>
  </ds:schemaRefs>
</ds:datastoreItem>
</file>

<file path=customXml/itemProps3.xml><?xml version="1.0" encoding="utf-8"?>
<ds:datastoreItem xmlns:ds="http://schemas.openxmlformats.org/officeDocument/2006/customXml" ds:itemID="{0354E976-D9B8-49D6-BB1E-30B410663C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{7893A498-B06A-4A28-B6D5-1659553C1284}TF9de9d6eb-65d6-487b-af48-f077b562509aeb344968_win32-6a1f3ccf387e</Template>
  <TotalTime>90</TotalTime>
  <Words>738</Words>
  <Application>Microsoft Office PowerPoint</Application>
  <PresentationFormat>Widescreen</PresentationFormat>
  <Paragraphs>67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Black</vt:lpstr>
      <vt:lpstr>Calibri</vt:lpstr>
      <vt:lpstr>Custom</vt:lpstr>
      <vt:lpstr>Data Analyst Assignment  Konstantinos Christogeorgos kostischristogeorgos@gmail.com</vt:lpstr>
      <vt:lpstr>Agenda</vt:lpstr>
      <vt:lpstr>Executive Summary</vt:lpstr>
      <vt:lpstr>Problem - Business Impact</vt:lpstr>
      <vt:lpstr>Model Approach</vt:lpstr>
      <vt:lpstr>Performance - Results</vt:lpstr>
      <vt:lpstr>Visualizations</vt:lpstr>
      <vt:lpstr>Business Recommendations - ROI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KONSTANTINOS CHRISTOGEORGOS</dc:creator>
  <cp:lastModifiedBy>KONSTANTINOS CHRISTOGEORGOS</cp:lastModifiedBy>
  <cp:revision>6</cp:revision>
  <dcterms:created xsi:type="dcterms:W3CDTF">2025-11-25T10:01:08Z</dcterms:created>
  <dcterms:modified xsi:type="dcterms:W3CDTF">2025-11-25T11:31:24Z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